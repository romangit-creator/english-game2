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70" r:id="rId3"/>
    <p:sldId id="262" r:id="rId4"/>
    <p:sldId id="263" r:id="rId5"/>
    <p:sldId id="264" r:id="rId6"/>
    <p:sldId id="265" r:id="rId7"/>
    <p:sldId id="268" r:id="rId8"/>
    <p:sldId id="269" r:id="rId9"/>
    <p:sldId id="266" r:id="rId10"/>
  </p:sldIdLst>
  <p:sldSz cx="9144000" cy="5143500" type="screen16x9"/>
  <p:notesSz cx="6858000" cy="9144000"/>
  <p:embeddedFontLst>
    <p:embeddedFont>
      <p:font typeface="Russo One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n Beznosov" initials="RB" lastIdx="1" clrIdx="0">
    <p:extLst>
      <p:ext uri="{19B8F6BF-5375-455C-9EA6-DF929625EA0E}">
        <p15:presenceInfo xmlns:p15="http://schemas.microsoft.com/office/powerpoint/2012/main" userId="b4aadcef7252f1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42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ef5312c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ef5312c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0ef5312c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0ef5312ce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ef5312c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ef5312ce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ef5312c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ef5312c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0ef5312c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0ef5312c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5fc4ec047cd6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25" y="0"/>
            <a:ext cx="6451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-92344" y="1739683"/>
            <a:ext cx="7503078" cy="1552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ko-KR" sz="4800" dirty="0">
                <a:solidFill>
                  <a:srgbClr val="1C75BC"/>
                </a:solidFill>
                <a:highlight>
                  <a:schemeClr val="lt1"/>
                </a:highlight>
                <a:latin typeface="Russo One"/>
                <a:sym typeface="Russo One"/>
              </a:rPr>
              <a:t>Геймификация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ko-KR" sz="4800" dirty="0">
                <a:solidFill>
                  <a:srgbClr val="1C75BC"/>
                </a:solidFill>
                <a:highlight>
                  <a:schemeClr val="lt1"/>
                </a:highlight>
                <a:latin typeface="Russo One"/>
                <a:sym typeface="Russo One"/>
              </a:rPr>
              <a:t>Изучения английского</a:t>
            </a:r>
            <a:endParaRPr lang="ko-KR" altLang="en-US" sz="4800" dirty="0">
              <a:solidFill>
                <a:schemeClr val="lt1"/>
              </a:solidFill>
              <a:highlight>
                <a:schemeClr val="lt1"/>
              </a:highlight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6" name="Google Shape;56;p13" title="Лого Куб Горизонтальный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25" y="82799"/>
            <a:ext cx="2466199" cy="116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98725" y="3772220"/>
            <a:ext cx="4250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Безносов </a:t>
            </a:r>
            <a:br>
              <a:rPr lang="ru" sz="21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</a:br>
            <a:r>
              <a:rPr lang="ru" sz="21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Роман</a:t>
            </a:r>
            <a:endParaRPr sz="21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58" name="Google Shape;58;p13" title="Нац проекты России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3772" y="167810"/>
            <a:ext cx="1191376" cy="9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618E3D-D64E-41D4-3648-ABEBB128E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0"/>
            <a:ext cx="8520600" cy="933739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Russo One" panose="020B0604020202020204" charset="0"/>
              </a:rPr>
              <a:t>Что такое геймификация?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371306-2984-FAF8-71BE-73DE45D7F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838" y="1164652"/>
            <a:ext cx="8520600" cy="792600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Russo One" panose="020B0604020202020204" charset="0"/>
              </a:rPr>
              <a:t>     </a:t>
            </a:r>
            <a:r>
              <a:rPr lang="ru-RU" sz="2400" dirty="0">
                <a:solidFill>
                  <a:schemeClr val="tx1"/>
                </a:solidFill>
                <a:latin typeface="Russo One" panose="020B0604020202020204" charset="0"/>
              </a:rPr>
              <a:t>Геймификация — это использование игровых элементов, механик и приёмов в неигровых сферах, чтобы сделать процесс более интересным, увлекательным и мотивирующим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95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3450764" y="-119550"/>
            <a:ext cx="5143300" cy="12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ЦЕЛЬ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0" y="-100"/>
            <a:ext cx="3665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0" name="Google Shape;110;p19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300" y="203825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3929002" y="868400"/>
            <a:ext cx="5012776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rgbClr val="1C75BC"/>
                </a:solidFill>
                <a:latin typeface="Russo One" panose="020B0604020202020204" charset="0"/>
                <a:ea typeface="Montserrat ExtraBold"/>
                <a:cs typeface="Montserrat ExtraBold"/>
                <a:sym typeface="Montserrat ExtraBold"/>
              </a:rPr>
              <a:t>С</a:t>
            </a:r>
            <a:r>
              <a:rPr lang="ru-RU" sz="3000" dirty="0">
                <a:solidFill>
                  <a:srgbClr val="0070C0"/>
                </a:solidFill>
                <a:latin typeface="Russo One" panose="020B0604020202020204" charset="0"/>
                <a:ea typeface="Montserrat ExtraBold"/>
                <a:cs typeface="Montserrat ExtraBold"/>
                <a:sym typeface="Montserrat ExtraBold"/>
              </a:rPr>
              <a:t>оз</a:t>
            </a:r>
            <a:r>
              <a:rPr lang="ru-RU" sz="3000" dirty="0">
                <a:solidFill>
                  <a:srgbClr val="1C75BC"/>
                </a:solidFill>
                <a:latin typeface="Russo One" panose="020B0604020202020204" charset="0"/>
                <a:ea typeface="Montserrat ExtraBold"/>
                <a:cs typeface="Montserrat ExtraBold"/>
                <a:sym typeface="Montserrat ExtraBold"/>
              </a:rPr>
              <a:t>дать игру для развития навыков владения английским языком </a:t>
            </a:r>
            <a:endParaRPr sz="3000" dirty="0">
              <a:solidFill>
                <a:srgbClr val="1C75BC"/>
              </a:solidFill>
              <a:latin typeface="Russo One" panose="020B0604020202020204" charset="0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3" name="Google Shape;113;p19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9C3B64-36E2-1DF3-B55D-BE9D0FE86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222" y="-101"/>
            <a:ext cx="36653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0" y="193800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ЗАДАЧИ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4427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rgbClr val="0070C0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Сделать процесс обучения более интересным</a:t>
            </a:r>
            <a:endParaRPr sz="1600" dirty="0">
              <a:solidFill>
                <a:srgbClr val="0070C0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54427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Собрать информацию о работе с данными</a:t>
            </a:r>
            <a:endParaRPr sz="1600" dirty="0">
              <a:solidFill>
                <a:schemeClr val="dk1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293725" y="1178450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0070C0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Написать рабочую программу</a:t>
            </a:r>
            <a:endParaRPr sz="1600" dirty="0">
              <a:solidFill>
                <a:srgbClr val="0070C0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6293725" y="2797775"/>
            <a:ext cx="23223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Помочь в изучении  английского</a:t>
            </a:r>
            <a:endParaRPr sz="1600" dirty="0">
              <a:solidFill>
                <a:schemeClr val="dk1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1" name="Google Shape;131;p20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428" y="183999"/>
            <a:ext cx="625938" cy="6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E5FE10-ED15-F808-29E4-251EEFD81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39" y="1178437"/>
            <a:ext cx="1167300" cy="11673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90AEF8-3525-17C7-9AC5-84D4BB57C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839" y="2797763"/>
            <a:ext cx="1167300" cy="11673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7DF14D5-CB26-A334-76FF-344827ECE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536" y="2797763"/>
            <a:ext cx="1183612" cy="11673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5E8B38-EC57-09D9-51DD-CC756CC8C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6536" y="1178437"/>
            <a:ext cx="1183612" cy="116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62650" y="0"/>
            <a:ext cx="47034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АКТУАЛЬНОСТЬ ПРОЕКТА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37" name="Google Shape;137;p21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800" y="92000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/>
          <p:nvPr/>
        </p:nvSpPr>
        <p:spPr>
          <a:xfrm>
            <a:off x="0" y="868400"/>
            <a:ext cx="4572000" cy="2049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1C75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572000" y="868400"/>
            <a:ext cx="4572000" cy="2049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194100" y="3008548"/>
            <a:ext cx="87558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В наши дни владение английским языком становится необходимостью в профессиональной и повседневной жизни однако традиционные методы обучения часто не обеспечивают достаточной мотивации и интереса учащихся.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Russo One" panose="020B0604020202020204" charset="0"/>
                <a:ea typeface="Montserrat Medium"/>
                <a:cs typeface="Montserrat Medium"/>
                <a:sym typeface="Montserrat Medium"/>
              </a:rPr>
              <a:t>А геймификация приобретает всё большую популярность в современном обучении.</a:t>
            </a:r>
            <a:endParaRPr sz="1800" dirty="0">
              <a:solidFill>
                <a:schemeClr val="dk1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1" name="Google Shape;141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 title="Came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600" y="1543938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6B899A-6A91-24FD-F5C8-024198287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68400"/>
            <a:ext cx="9144000" cy="204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/>
        </p:nvSpPr>
        <p:spPr>
          <a:xfrm>
            <a:off x="0" y="0"/>
            <a:ext cx="9144000" cy="175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p22" title="Came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6950" y="470359"/>
            <a:ext cx="810100" cy="8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0" y="1575184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УНИКАЛЬНОСТЬ ПРОЕКТА</a:t>
            </a:r>
            <a:endParaRPr sz="260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5920" y="4023858"/>
            <a:ext cx="8755800" cy="2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ru-RU" sz="1800" dirty="0">
              <a:solidFill>
                <a:schemeClr val="dk1"/>
              </a:solidFill>
              <a:latin typeface="Russo One" panose="020B0604020202020204" charset="0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1" name="Google Shape;151;p22" title="Лого Куб без надписи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428" y="4329649"/>
            <a:ext cx="625938" cy="6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80D04-826D-AE06-30DC-8BDC84988F56}"/>
              </a:ext>
            </a:extLst>
          </p:cNvPr>
          <p:cNvSpPr txBox="1"/>
          <p:nvPr/>
        </p:nvSpPr>
        <p:spPr>
          <a:xfrm>
            <a:off x="350584" y="2571750"/>
            <a:ext cx="8146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Russo One" panose="020B0604020202020204" charset="0"/>
              </a:rPr>
              <a:t>Использование игр это более интересный и уникальный вариант обучения, он способствует развитию умений применять язык на практике через интерактивные задания и соревнования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EF1E17-A65A-8061-043F-DDF042B47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175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12910-59E5-F2C3-2E1E-067549A1A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53397"/>
            <a:ext cx="8520600" cy="792600"/>
          </a:xfrm>
        </p:spPr>
        <p:txBody>
          <a:bodyPr>
            <a:normAutofit/>
          </a:bodyPr>
          <a:lstStyle/>
          <a:p>
            <a:r>
              <a:rPr lang="ru-RU" sz="2600" dirty="0">
                <a:latin typeface="Russo One" panose="020B0604020202020204" charset="0"/>
              </a:rPr>
              <a:t>РЕЗУЛЬТАТ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16E6F4-6572-261D-9CCE-B3577701D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77616"/>
            <a:ext cx="8520600" cy="792600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0070C0"/>
                </a:solidFill>
                <a:latin typeface="Russo One" panose="020B0604020202020204" charset="0"/>
              </a:rPr>
              <a:t>Полностью рабочая программа включающая в себя: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9B29D-957A-ABDA-0170-CD9FEBED2364}"/>
              </a:ext>
            </a:extLst>
          </p:cNvPr>
          <p:cNvSpPr txBox="1"/>
          <p:nvPr/>
        </p:nvSpPr>
        <p:spPr>
          <a:xfrm>
            <a:off x="311700" y="1901835"/>
            <a:ext cx="5756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usso One" panose="020B0604020202020204" charset="0"/>
              </a:rPr>
              <a:t>Хостинг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41654-4A28-902C-2FDC-E3B47ECF8E2C}"/>
              </a:ext>
            </a:extLst>
          </p:cNvPr>
          <p:cNvSpPr txBox="1"/>
          <p:nvPr/>
        </p:nvSpPr>
        <p:spPr>
          <a:xfrm>
            <a:off x="311700" y="2556674"/>
            <a:ext cx="472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usso One" panose="020B0604020202020204" charset="0"/>
              </a:rPr>
              <a:t>Мультиплеерный и одиночный режим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D8C81-F7EA-BF26-22E2-62FC22B6D8AB}"/>
              </a:ext>
            </a:extLst>
          </p:cNvPr>
          <p:cNvSpPr txBox="1"/>
          <p:nvPr/>
        </p:nvSpPr>
        <p:spPr>
          <a:xfrm>
            <a:off x="311700" y="3642664"/>
            <a:ext cx="3318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usso One" panose="020B0604020202020204" charset="0"/>
              </a:rPr>
              <a:t>Парсинг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879378-07CC-565B-7D58-2EEE069D3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714" y="53397"/>
            <a:ext cx="715444" cy="792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7940BF-1620-0E09-5D05-4D3DA3156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00" y="177021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7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B3EF7-A059-8459-5F62-1CF0AFD96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0"/>
            <a:ext cx="8520600" cy="865909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Russo One" panose="020B0604020202020204" charset="0"/>
              </a:rPr>
              <a:t>ПЕРСПЕКТИВЫ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91C90E-96CE-F3F3-072C-DD0520D36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791" y="1012252"/>
            <a:ext cx="8520600" cy="792600"/>
          </a:xfrm>
        </p:spPr>
        <p:txBody>
          <a:bodyPr>
            <a:noAutofit/>
          </a:bodyPr>
          <a:lstStyle/>
          <a:p>
            <a:r>
              <a:rPr lang="ru-RU" sz="2600" dirty="0">
                <a:solidFill>
                  <a:srgbClr val="0070C0"/>
                </a:solidFill>
                <a:latin typeface="Russo One" panose="020B0604020202020204" charset="0"/>
              </a:rPr>
              <a:t>Полноценный мультиплеер с игроками со</a:t>
            </a:r>
          </a:p>
          <a:p>
            <a:r>
              <a:rPr lang="ru-RU" sz="2600" dirty="0">
                <a:solidFill>
                  <a:srgbClr val="0070C0"/>
                </a:solidFill>
                <a:latin typeface="Russo One" panose="020B0604020202020204" charset="0"/>
              </a:rPr>
              <a:t>всего мира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9EA4E-C0C2-EA5F-7FED-08DF2D154363}"/>
              </a:ext>
            </a:extLst>
          </p:cNvPr>
          <p:cNvSpPr txBox="1"/>
          <p:nvPr/>
        </p:nvSpPr>
        <p:spPr>
          <a:xfrm>
            <a:off x="865909" y="2313709"/>
            <a:ext cx="72182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srgbClr val="0070C0"/>
                </a:solidFill>
                <a:latin typeface="Russo One" panose="020B0604020202020204" charset="0"/>
              </a:rPr>
              <a:t>Свой собственный сайт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23003-96D6-B744-51F1-599D998E572F}"/>
              </a:ext>
            </a:extLst>
          </p:cNvPr>
          <p:cNvSpPr txBox="1"/>
          <p:nvPr/>
        </p:nvSpPr>
        <p:spPr>
          <a:xfrm>
            <a:off x="962891" y="3315009"/>
            <a:ext cx="72182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solidFill>
                  <a:srgbClr val="0070C0"/>
                </a:solidFill>
                <a:latin typeface="Russo One" panose="020B0604020202020204" charset="0"/>
              </a:rPr>
              <a:t>Изучение других языков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86564A-9D22-1FD0-161E-A19095F10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095" y="86976"/>
            <a:ext cx="621846" cy="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6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title="Лого Куб без надписи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335" y="374526"/>
            <a:ext cx="1247326" cy="136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0" y="2045550"/>
            <a:ext cx="91440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 dirty="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СПАСИБО ЗА ВНИМАНИЕ!!!!</a:t>
            </a:r>
            <a:endParaRPr sz="2600" dirty="0">
              <a:solidFill>
                <a:schemeClr val="dk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143111-2859-711F-FB5F-19D8550AE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151" y="3097950"/>
            <a:ext cx="2159184" cy="195695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0A3DEA-CF29-4C68-46CA-4D6E94382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661" y="3097950"/>
            <a:ext cx="2001984" cy="195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161</Words>
  <Application>Microsoft Office PowerPoint</Application>
  <PresentationFormat>Экран (16:9)</PresentationFormat>
  <Paragraphs>28</Paragraphs>
  <Slides>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Russo One</vt:lpstr>
      <vt:lpstr>Simple Light</vt:lpstr>
      <vt:lpstr>Презентация PowerPoint</vt:lpstr>
      <vt:lpstr>Что такое геймификация?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</vt:lpstr>
      <vt:lpstr>ПЕРСПЕКТИВЫ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Roman Beznosov</cp:lastModifiedBy>
  <cp:revision>2</cp:revision>
  <dcterms:modified xsi:type="dcterms:W3CDTF">2026-03-30T16:53:23Z</dcterms:modified>
</cp:coreProperties>
</file>